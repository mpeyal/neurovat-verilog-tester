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600" b="1">
                <a:solidFill>
                  <a:srgbClr val="F4F7FB"/>
                </a:solidFill>
                <a:latin typeface="Segoe UI"/>
              </a:rPr>
              <a:t>NeuroVAT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Neuromorphic Synapse Modeling — without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AAAC0"/>
                </a:solidFill>
                <a:latin typeface="Segoe UI"/>
              </a:rPr>
              <a:t>Behavioral Python twins of ECFET / FeFET Verilog-A devices, a live stimulus designer, a spiking-network trainer on a memristive crossbar, and an embedded Claude agent — all in one desktop 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3822191"/>
            <a:ext cx="292608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AC0"/>
                </a:solidFill>
                <a:latin typeface="Segoe UI"/>
              </a:rPr>
              <a:t>Live demo deck · screenshots captured from the running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4F7FB"/>
                </a:solidFill>
                <a:latin typeface="Segoe UI"/>
              </a:rPr>
              <a:t>What is NeuroVAT?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57800" cy="420624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5A623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800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Iterating on neuromorphic synapse devices in Cadence/Spectre is slow: a license, a compile, a netlist and a long transient for every parameter tweak.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Segoe UI"/>
              </a:rPr>
              <a:t>Exploring learning behaviour (LTP/LTD, STDP, network accuracy) on top of that loop is painful and hard to visualise.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783080"/>
            <a:ext cx="5257800" cy="420624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DD4BF"/>
                </a:solidFill>
                <a:latin typeface="Segoe UI"/>
              </a:rPr>
              <a:t>The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06040"/>
            <a:ext cx="4800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Fast Python “twins” of each .va device — same physics, no EDA loop.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Design any stimulus and see I / R / G respond live.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Train a spiking LIF network on a crossbar of those devices and watch it learn.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Edit the Verilog-A in-app; ask the built-in Claude agent to explain or tune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AC0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AC0"/>
                </a:solidFill>
                <a:latin typeface="Segoe UI"/>
              </a:rPr>
              <a:t>NeuroVAT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STIMULUS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4F7FB"/>
                </a:solidFill>
                <a:latin typeface="Segoe UI"/>
              </a:rPr>
              <a:t>Signal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3" y="1591056"/>
            <a:ext cx="7891272" cy="4654081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signal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7818120" cy="45809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41080" y="1627632"/>
            <a:ext cx="3001975" cy="4480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1874519"/>
            <a:ext cx="259049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10+ generators: single spike, pulse train, LTP/LTD, paired-pulse, Poisson, burst, STDP pairs, staircase, custom CSV.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Current- or voltage-drive with pA → A / mV → V unit scaling.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Live waveform preview before you run.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One click sweeps every selected device twin.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640080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AC0"/>
                </a:solidFill>
                <a:latin typeface="Segoe UI"/>
              </a:rPr>
              <a:t>Default LTP/LTD train shown — 300 potentiating then 300 depressing pulses.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AC0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AC0"/>
                </a:solidFill>
                <a:latin typeface="Segoe UI"/>
              </a:rPr>
              <a:t>NeuroVAT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DEVICE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4F7FB"/>
                </a:solidFill>
                <a:latin typeface="Segoe UI"/>
              </a:rPr>
              <a:t>Results — linked I / R / 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3" y="1591056"/>
            <a:ext cx="7891272" cy="4654081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7818120" cy="45809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41080" y="1627632"/>
            <a:ext cx="3001975" cy="4480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1874519"/>
            <a:ext cx="259049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Three time-locked plots: drive current, memory resistance R_mem, and synaptic conductance G.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Shared time axis with interactive zoom, pan and A/B probe markers.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Potentiation vs. depression branches are clearly separated.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Export CSV for a direct Spectre overlay.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AC0"/>
                </a:solidFill>
                <a:latin typeface="Segoe U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AC0"/>
                </a:solidFill>
                <a:latin typeface="Segoe UI"/>
              </a:rPr>
              <a:t>NeuroVAT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4F7FB"/>
                </a:solidFill>
                <a:latin typeface="Segoe UI"/>
              </a:rPr>
              <a:t>Per-pulse LTP / LTD curve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3" y="1591056"/>
            <a:ext cx="7891272" cy="4654081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7818120" cy="45809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41080" y="1627632"/>
            <a:ext cx="3001975" cy="4480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1874519"/>
            <a:ext cx="259049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Retained conductance (or resistance) after each pulse vs. pulse number.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Reproduces the paper's Fig. 3c potentiation/depression staircase.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≥ 250 distinguishable states per ramp, near-linear (R² ≈ 1.0).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Symmetric LTP and LTD branches.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AC0"/>
                </a:solidFill>
                <a:latin typeface="Segoe U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AC0"/>
                </a:solidFill>
                <a:latin typeface="Segoe UI"/>
              </a:rPr>
              <a:t>NeuroVAT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PLASTICITY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4F7FB"/>
                </a:solidFill>
                <a:latin typeface="Segoe UI"/>
              </a:rPr>
              <a:t>STDP learning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3" y="1591056"/>
            <a:ext cx="7891272" cy="4654081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st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7818120" cy="45809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41080" y="1627632"/>
            <a:ext cx="3001975" cy="4480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1874519"/>
            <a:ext cx="259049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Sweeps pre/post spike timing Δt and measures ΔG.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Anti-symmetric window: causal (pre→post) potentiates, anti-causal depresses.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Decay constants come straight from device geometry (τ₁ 22 ms, τ₂ 315 ms, τ₃ 19 s).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Logarithmic Δt sampling — dense on the fast rise, out to the slow tail.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AC0"/>
                </a:solidFill>
                <a:latin typeface="Segoe UI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AC0"/>
                </a:solidFill>
                <a:latin typeface="Segoe UI"/>
              </a:rPr>
              <a:t>NeuroVAT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4F7FB"/>
                </a:solidFill>
                <a:latin typeface="Segoe UI"/>
              </a:rPr>
              <a:t>Neuro Trainer — live crossbar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3" y="1591056"/>
            <a:ext cx="7891272" cy="4654081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trainer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7818120" cy="45809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41080" y="1627632"/>
            <a:ext cx="3001975" cy="4480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1874519"/>
            <a:ext cx="259049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A spiking LIF network whose synapses ARE the device twins, on a real crossbar.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Live conductance heatmap (rows = output neurons, cols = inputs).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Device-local STDP or surrogate-gradient (BPTT) learning rules.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Weights update in real time as the network trains.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AC0"/>
                </a:solidFill>
                <a:latin typeface="Segoe UI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AC0"/>
                </a:solidFill>
                <a:latin typeface="Segoe UI"/>
              </a:rPr>
              <a:t>NeuroVAT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4F7FB"/>
                </a:solidFill>
                <a:latin typeface="Segoe UI"/>
              </a:rPr>
              <a:t>Neuro Trainer — learning dynamics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3" y="1655064"/>
            <a:ext cx="5559552" cy="3287839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trainer_all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486400" cy="32146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64224" y="1655064"/>
            <a:ext cx="5193792" cy="3073527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trainer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5120640" cy="30003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212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AC0"/>
                </a:solidFill>
                <a:latin typeface="Segoe UI"/>
              </a:rPr>
              <a:t>Every synapse's weight trajectory over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2120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AC0"/>
                </a:solidFill>
                <a:latin typeface="Segoe UI"/>
              </a:rPr>
              <a:t>Spike raster + live train / test accuracy curve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4F7FB"/>
                </a:solidFill>
                <a:latin typeface="Segoe UI"/>
              </a:rPr>
              <a:t>Watch competition and convergence directly: weight traces fan out and settle while accuracy climbs to 100% — every signal is live, not a mock-up.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AC0"/>
                </a:solidFill>
                <a:latin typeface="Segoe UI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AC0"/>
                </a:solidFill>
                <a:latin typeface="Segoe UI"/>
              </a:rPr>
              <a:t>NeuroVAT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4F7FB"/>
                </a:solidFill>
                <a:latin typeface="Segoe UI"/>
              </a:rPr>
              <a:t>100% accuracy on XOR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3" y="1591056"/>
            <a:ext cx="7891272" cy="4654081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trainer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7818120" cy="45809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41080" y="1627632"/>
            <a:ext cx="3001975" cy="4480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1874519"/>
            <a:ext cx="259049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Trained ECFET-v3 crossbar solving the non-linear XOR task.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Confusion matrix is fully diagonal — every pattern classified correctly.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Per-class precision / recall / F1 all = 1.000.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Held-out test set + live train/test accuracy curve during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640080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AC0"/>
                </a:solidFill>
                <a:latin typeface="Segoe UI"/>
              </a:rPr>
              <a:t>Loaded from saved_model/ecfetv3_xor_neuro_model.json, then re-trained &amp; evaluated live.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AC0"/>
                </a:solidFill>
                <a:latin typeface="Segoe UI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AC0"/>
                </a:solidFill>
                <a:latin typeface="Segoe UI"/>
              </a:rPr>
              <a:t>NeuroVAT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4F7FB"/>
                </a:solidFill>
                <a:latin typeface="Segoe UI"/>
              </a:rPr>
              <a:t>Verilog-A source &amp; embedded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3" y="1591056"/>
            <a:ext cx="7891272" cy="4654081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_verilog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7818120" cy="45809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41080" y="1627632"/>
            <a:ext cx="3001975" cy="448056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1874519"/>
            <a:ext cx="2590495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Workspace auto-scans every .va file (ECFET v1/v2/v3, FeFET …).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Editable device parameters with live re-simulation.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In-app Verilog-A editor with one-click write-back.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500" b="0">
                <a:solidFill>
                  <a:srgbClr val="F4F7FB"/>
                </a:solidFill>
                <a:latin typeface="Segoe UI"/>
              </a:rPr>
              <a:t>Claude agent (right) explains devices, writes spike patterns, tunes the 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AC0"/>
                </a:solidFill>
                <a:latin typeface="Segoe UI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AC0"/>
                </a:solidFill>
                <a:latin typeface="Segoe UI"/>
              </a:rPr>
              <a:t>NeuroVAT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VALIDATION &amp;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4F7FB"/>
                </a:solidFill>
                <a:latin typeface="Segoe UI"/>
              </a:rPr>
              <a:t>Paper-validated — and one command to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82880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943600" cy="429768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DD4BF"/>
                </a:solidFill>
                <a:latin typeface="Segoe UI"/>
              </a:rPr>
              <a:t>Matches Sharbati et al., Adv. Mater. 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AC0"/>
                </a:solidFill>
                <a:latin typeface="Segoe UI"/>
              </a:rPr>
              <a:t>observable          paper         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79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4F7FB"/>
                </a:solidFill>
                <a:latin typeface="Segoe UI"/>
              </a:rPr>
              <a:t>Fig.3a retained ΔR′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926079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AC0"/>
                </a:solidFill>
                <a:latin typeface="Segoe UI"/>
              </a:rPr>
              <a:t>−10 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926079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9D07A"/>
                </a:solidFill>
                <a:latin typeface="Segoe UI"/>
              </a:rPr>
              <a:t>−9.8 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7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4F7FB"/>
                </a:solidFill>
                <a:latin typeface="Segoe UI"/>
              </a:rPr>
              <a:t>Fig.3c distinct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310127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AC0"/>
                </a:solidFill>
                <a:latin typeface="Segoe UI"/>
              </a:rPr>
              <a:t>&gt; 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310127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9D07A"/>
                </a:solidFill>
                <a:latin typeface="Segoe UI"/>
              </a:rPr>
              <a:t>≥ 250 / ramp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94176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4F7FB"/>
                </a:solidFill>
                <a:latin typeface="Segoe UI"/>
              </a:rPr>
              <a:t>Fig.3c linearity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694176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AC0"/>
                </a:solidFill>
                <a:latin typeface="Segoe UI"/>
              </a:rPr>
              <a:t>R² = 0.994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694176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9D07A"/>
                </a:solidFill>
                <a:latin typeface="Segoe UI"/>
              </a:rPr>
              <a:t>R² ≈ 1.000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78224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4F7FB"/>
                </a:solidFill>
                <a:latin typeface="Segoe UI"/>
              </a:rPr>
              <a:t>Fig.4b τ₁ / τ₂ / τ₃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078224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AC0"/>
                </a:solidFill>
                <a:latin typeface="Segoe UI"/>
              </a:rPr>
              <a:t>22 / 315 ms / 19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078224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9D07A"/>
                </a:solidFill>
                <a:latin typeface="Segoe UI"/>
              </a:rPr>
              <a:t>22.2 / 312.5 / 19.0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62272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4F7FB"/>
                </a:solidFill>
                <a:latin typeface="Segoe UI"/>
              </a:rPr>
              <a:t>Retention (13 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462272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AC0"/>
                </a:solidFill>
                <a:latin typeface="Segoe UI"/>
              </a:rPr>
              <a:t>3.2 %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462272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9D07A"/>
                </a:solidFill>
                <a:latin typeface="Segoe UI"/>
              </a:rPr>
              <a:t>2.83 %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AC0"/>
                </a:solidFill>
                <a:latin typeface="Segoe UI"/>
              </a:rPr>
              <a:t>Every electrical synaptic observable reproduced to figure-reading accuracy.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1783080"/>
            <a:ext cx="4617720" cy="429768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199339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5A623"/>
                </a:solidFill>
                <a:latin typeface="Segoe UI"/>
              </a:rPr>
              <a:t>Getting started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6060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4F7FB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0632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49D07A"/>
                </a:solidFill>
                <a:latin typeface="Consolas"/>
              </a:rPr>
              <a:t>python run_gui.py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749039"/>
            <a:ext cx="41148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400" b="0">
                <a:solidFill>
                  <a:srgbClr val="F4F7FB"/>
                </a:solidFill>
                <a:latin typeface="Segoe UI"/>
              </a:rPr>
              <a:t>Auto-loads every .va in the folder.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400" b="0">
                <a:solidFill>
                  <a:srgbClr val="F4F7FB"/>
                </a:solidFill>
                <a:latin typeface="Segoe UI"/>
              </a:rPr>
              <a:t>Click Neuro Trainer → Load a saved model → Train.</a:t>
            </a:r>
          </a:p>
          <a:p>
            <a:pPr algn="l" indent="-228600" marL="228600">
              <a:spcBef>
                <a:spcPts val="0"/>
              </a:spcBef>
              <a:spcAft>
                <a:spcPts val="400"/>
              </a:spcAft>
              <a:buFont typeface="Arial"/>
              <a:buChar char="▸"/>
            </a:pPr>
            <a:r>
              <a:rPr sz="1400" b="0">
                <a:solidFill>
                  <a:srgbClr val="F4F7FB"/>
                </a:solidFill>
                <a:latin typeface="Segoe UI"/>
              </a:rPr>
              <a:t>Export CSV for Spectre cross-checks anytime.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AC0"/>
                </a:solidFill>
                <a:latin typeface="Segoe UI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AC0"/>
                </a:solidFill>
                <a:latin typeface="Segoe UI"/>
              </a:rPr>
              <a:t>NeuroVAT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